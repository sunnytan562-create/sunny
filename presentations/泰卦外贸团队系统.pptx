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49808" y="1051560"/>
            <a:ext cx="1645920" cy="411480"/>
          </a:xfrm>
          <a:prstGeom prst="roundRect">
            <a:avLst/>
          </a:prstGeom>
          <a:solidFill>
            <a:srgbClr val="0F3675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4E6FF"/>
                </a:solidFill>
              </a:rPr>
              <a:t>BUSINESS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83080"/>
            <a:ext cx="7132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泰卦外贸团队系统</a:t>
            </a:r>
          </a:p>
          <a:p>
            <a:r>
              <a:rPr sz="1800">
                <a:solidFill>
                  <a:srgbClr val="D9F0FF"/>
                </a:solidFill>
              </a:rPr>
              <a:t>团队规范化管理与业务协同体系</a:t>
            </a:r>
          </a:p>
          <a:p>
            <a:r>
              <a:rPr sz="1300">
                <a:solidFill>
                  <a:srgbClr val="B1CEE8"/>
                </a:solidFill>
              </a:rPr>
              <a:t>围绕团队、制度、岗位、流程与绩效，构建高效可复制的外贸作战系统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434840"/>
            <a:ext cx="4206240" cy="658368"/>
          </a:xfrm>
          <a:prstGeom prst="roundRect">
            <a:avLst/>
          </a:prstGeom>
          <a:solidFill>
            <a:srgbClr val="0F3675"/>
          </a:solidFill>
          <a:ln>
            <a:solidFill>
              <a:srgbClr val="84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目标：提升协同效率 · 标准执行动作 · 促进业绩增长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CEE8"/>
                </a:solidFill>
              </a:rPr>
              <a:t>泰卦外贸团队系统 | TOSEA Deep Blue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六大板块总览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1CEE8"/>
                </a:solidFill>
              </a:rPr>
              <a:t>以组织能力为底座，以流程与绩效驱动增长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880360" cy="1325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01 团队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554480"/>
            <a:ext cx="2880360" cy="1325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02 团队制度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2880360" cy="1325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03 岗位职责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2880360" cy="1325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04 工作流程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657600"/>
            <a:ext cx="2880360" cy="1325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05 业务流程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657600"/>
            <a:ext cx="2880360" cy="1325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06 薪酬绩效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CEE8"/>
                </a:solidFill>
              </a:rPr>
              <a:t>泰卦外贸团队系统 | TOSEA Deep Blue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502920"/>
            <a:ext cx="914400" cy="438912"/>
          </a:xfrm>
          <a:prstGeom prst="roundRect">
            <a:avLst/>
          </a:prstGeom>
          <a:solidFill>
            <a:srgbClr val="0F3675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4E6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团队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1CEE8"/>
                </a:solidFill>
              </a:rPr>
              <a:t>明确组织结构、角色配置与协同关系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657600" cy="443484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组织定位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以客户开发、成交转化、订单交付为核心主线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前台业务、中台支持、后台管理协同作战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团队建设兼顾业务增长与人才复制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91840" cy="443484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核心角色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团队负责人：目标管理、资源协调、结果追踪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业务员：客户开发、报价谈判、成交转化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跟单/助理：订单推进、资料统筹、交付衔接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417320"/>
            <a:ext cx="3611880" cy="443484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协同原则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分工清晰：客户归属、阶段责任、交接节点明确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信息透明：进度、风险、需求在系统内同步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复盘闭环：周度复盘、月度总结、问题持续优化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CEE8"/>
                </a:solidFill>
              </a:rPr>
              <a:t>泰卦外贸团队系统 | TOSEA Deep Blue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502920"/>
            <a:ext cx="914400" cy="438912"/>
          </a:xfrm>
          <a:prstGeom prst="roundRect">
            <a:avLst/>
          </a:prstGeom>
          <a:solidFill>
            <a:srgbClr val="0F3675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4E6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团队制度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1CEE8"/>
                </a:solidFill>
              </a:rPr>
              <a:t>通过统一规则保障执行一致性与管理效率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29768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基础制度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考勤打卡、请假审批、出差报备统一管理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晨会/周会/月会形成固定节奏与复盘机制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客户资料、报价文件、样品信息集中归档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29768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过程制度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客户分配规则公开透明，避免撞单与内耗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跟进时效、报价时限、异常升级节点标准化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跨岗位协作事项按工单/清单闭环推进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29768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行为规范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对外沟通专业统一，对内反馈及时准确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关键事项留痕，关键数据可查，关键问题可追责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制度执行与绩效评价、奖惩结果挂钩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CEE8"/>
                </a:solidFill>
              </a:rPr>
              <a:t>泰卦外贸团队系统 | TOSEA Deep Blue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502920"/>
            <a:ext cx="914400" cy="438912"/>
          </a:xfrm>
          <a:prstGeom prst="roundRect">
            <a:avLst/>
          </a:prstGeom>
          <a:solidFill>
            <a:srgbClr val="0F3675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4E6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岗位职责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1CEE8"/>
                </a:solidFill>
              </a:rPr>
              <a:t>让每个岗位知道“做什么、做到什么结果”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743200" cy="416052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负责人/主管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制定目标、拆解任务、配置资源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监控重点客户、重点订单与重点风险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培养骨干，推动流程优化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508760"/>
            <a:ext cx="2697480" cy="416052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业务员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开发客户、需求挖掘、方案报价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推进谈判，提升样品与订单转化率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维护关系，沉淀客户经营计划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08760"/>
            <a:ext cx="2423160" cy="416052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跟单/助理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跟进样品、订单、出货与单证资料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协调工厂、仓储、物流等内部资源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反馈进度与异常，保障交付节奏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508760"/>
            <a:ext cx="2423160" cy="416052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支持岗位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运营提供平台、数据与内容支持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财务/行政配合回款、合同与合规事项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IT/系统确保工具稳定、数据安全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CEE8"/>
                </a:solidFill>
              </a:rPr>
              <a:t>泰卦外贸团队系统 | TOSEA Deep Blue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502920"/>
            <a:ext cx="914400" cy="438912"/>
          </a:xfrm>
          <a:prstGeom prst="roundRect">
            <a:avLst/>
          </a:prstGeom>
          <a:solidFill>
            <a:srgbClr val="0F3675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4E6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工作流程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1CEE8"/>
                </a:solidFill>
              </a:rPr>
              <a:t>把日常工作做成标准动作，提升效率与可复制性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0F3675"/>
          </a:solidFill>
          <a:ln>
            <a:solidFill>
              <a:srgbClr val="84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148840"/>
            <a:ext cx="2331720" cy="2468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84E6FF"/>
                </a:solidFill>
              </a:rPr>
              <a:t>日计划</a:t>
            </a:r>
          </a:p>
          <a:p>
            <a:pPr>
              <a:spcBef>
                <a:spcPts val="1000"/>
              </a:spcBef>
              <a:defRPr sz="1200">
                <a:solidFill>
                  <a:srgbClr val="E8F4FF"/>
                </a:solidFill>
              </a:defRPr>
            </a:pPr>
            <a:r>
              <a:t>明确当天客户、报价、订单和重点事项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3063240"/>
            <a:ext cx="347471" cy="0"/>
          </a:xfrm>
          <a:prstGeom prst="line">
            <a:avLst/>
          </a:prstGeom>
          <a:ln w="20320">
            <a:solidFill>
              <a:srgbClr val="84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657600" y="1828800"/>
            <a:ext cx="566928" cy="566928"/>
          </a:xfrm>
          <a:prstGeom prst="ellipse">
            <a:avLst/>
          </a:prstGeom>
          <a:solidFill>
            <a:srgbClr val="0F3675"/>
          </a:solidFill>
          <a:ln>
            <a:solidFill>
              <a:srgbClr val="84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148840"/>
            <a:ext cx="2331720" cy="2468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84E6FF"/>
                </a:solidFill>
              </a:rPr>
              <a:t>跟进执行</a:t>
            </a:r>
          </a:p>
          <a:p>
            <a:pPr>
              <a:spcBef>
                <a:spcPts val="1000"/>
              </a:spcBef>
              <a:defRPr sz="1200">
                <a:solidFill>
                  <a:srgbClr val="E8F4FF"/>
                </a:solidFill>
              </a:defRPr>
            </a:pPr>
            <a:r>
              <a:t>按优先级推进客户沟通、报价反馈与内部协同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09360" y="3063240"/>
            <a:ext cx="347471" cy="0"/>
          </a:xfrm>
          <a:prstGeom prst="line">
            <a:avLst/>
          </a:prstGeom>
          <a:ln w="20320">
            <a:solidFill>
              <a:srgbClr val="84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0F3675"/>
          </a:solidFill>
          <a:ln>
            <a:solidFill>
              <a:srgbClr val="84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148840"/>
            <a:ext cx="2331720" cy="2468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84E6FF"/>
                </a:solidFill>
              </a:rPr>
              <a:t>异常处理</a:t>
            </a:r>
          </a:p>
          <a:p>
            <a:pPr>
              <a:spcBef>
                <a:spcPts val="1000"/>
              </a:spcBef>
              <a:defRPr sz="1200">
                <a:solidFill>
                  <a:srgbClr val="E8F4FF"/>
                </a:solidFill>
              </a:defRPr>
            </a:pPr>
            <a:r>
              <a:t>针对延期、投诉、价格争议及时升级处理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3063240"/>
            <a:ext cx="347472" cy="0"/>
          </a:xfrm>
          <a:prstGeom prst="line">
            <a:avLst/>
          </a:prstGeom>
          <a:ln w="20320">
            <a:solidFill>
              <a:srgbClr val="84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326880" y="1828800"/>
            <a:ext cx="566928" cy="566928"/>
          </a:xfrm>
          <a:prstGeom prst="ellipse">
            <a:avLst/>
          </a:prstGeom>
          <a:solidFill>
            <a:srgbClr val="0F3675"/>
          </a:solidFill>
          <a:ln>
            <a:solidFill>
              <a:srgbClr val="84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2148840"/>
            <a:ext cx="2331720" cy="2468880"/>
          </a:xfrm>
          <a:prstGeom prst="roundRect">
            <a:avLst/>
          </a:prstGeom>
          <a:solidFill>
            <a:srgbClr val="0B2758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84E6FF"/>
                </a:solidFill>
              </a:rPr>
              <a:t>结果复盘</a:t>
            </a:r>
          </a:p>
          <a:p>
            <a:pPr>
              <a:spcBef>
                <a:spcPts val="1000"/>
              </a:spcBef>
              <a:defRPr sz="1200">
                <a:solidFill>
                  <a:srgbClr val="E8F4FF"/>
                </a:solidFill>
              </a:defRPr>
            </a:pPr>
            <a:r>
              <a:t>提交日报/周报，沉淀经验、问题与改进动作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CEE8"/>
                </a:solidFill>
              </a:rPr>
              <a:t>泰卦外贸团队系统 | TOSEA Deep Blue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502920"/>
            <a:ext cx="914400" cy="438912"/>
          </a:xfrm>
          <a:prstGeom prst="roundRect">
            <a:avLst/>
          </a:prstGeom>
          <a:solidFill>
            <a:srgbClr val="0F3675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4E6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业务流程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1CEE8"/>
                </a:solidFill>
              </a:rPr>
              <a:t>围绕客户生命周期打造清晰成交链路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获客 → 建联 → 需求确认 → 报价谈判 → 成交签单 → 订单执行 → 售后复盘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3291840" cy="269748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前端开发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整合展会、平台、社媒、老客转介绍等线索来源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377440"/>
            <a:ext cx="3291840" cy="269748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转化推进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以时效、专业度、方案能力驱动样品与订单成交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377440"/>
            <a:ext cx="3291840" cy="269748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交付协同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订单、出货、回款、售后由系统跟踪关键节点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440680"/>
            <a:ext cx="10424160" cy="566928"/>
          </a:xfrm>
          <a:prstGeom prst="roundRect">
            <a:avLst/>
          </a:prstGeom>
          <a:solidFill>
            <a:srgbClr val="0F3675"/>
          </a:solidFill>
          <a:ln>
            <a:solidFill>
              <a:srgbClr val="84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关键控制点：客户分级、报价时效、样品转化、订单交付、回款闭环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CEE8"/>
                </a:solidFill>
              </a:rPr>
              <a:t>泰卦外贸团队系统 | TOSEA Deep Blue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sea_deep_blu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502920"/>
            <a:ext cx="914400" cy="438912"/>
          </a:xfrm>
          <a:prstGeom prst="roundRect">
            <a:avLst/>
          </a:prstGeom>
          <a:solidFill>
            <a:srgbClr val="0F3675"/>
          </a:solidFill>
          <a:ln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4E6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薪酬绩效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1CEE8"/>
                </a:solidFill>
              </a:rPr>
              <a:t>让收入结构体现贡献，让考核结果驱动增长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474720" cy="443484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薪酬结构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基础薪酬：体现岗位价值与基本能力要求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绩效奖金：绑定过程执行、团队协同与阶段目标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业务提成：体现订单贡献、毛利质量与回款结果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74720" cy="443484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考核指标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过程指标：客户跟进量、报价及时率、系统录入完整率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结果指标：询盘转化率、样品转化率、成交额与毛利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管理指标：团队达成率、培训带教、异常处理效率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417320"/>
            <a:ext cx="3474720" cy="4434840"/>
          </a:xfrm>
          <a:prstGeom prst="roundRect">
            <a:avLst/>
          </a:prstGeom>
          <a:solidFill>
            <a:srgbClr val="0B2758"/>
          </a:solidFill>
          <a:ln w="17780">
            <a:solidFill>
              <a:srgbClr val="53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4E6FF"/>
                </a:solidFill>
              </a:rPr>
              <a:t>激励机制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月度兑现、季度复盘、年度激励，拉开优秀差距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奖优罚劣，鼓励增量开发、重点客户突破与高质量交付</a:t>
            </a:r>
          </a:p>
          <a:p>
            <a:pPr>
              <a:spcBef>
                <a:spcPts val="500"/>
              </a:spcBef>
              <a:defRPr sz="1200">
                <a:solidFill>
                  <a:srgbClr val="E8F4FF"/>
                </a:solidFill>
              </a:defRPr>
            </a:pPr>
            <a:r>
              <a:t>绩效规则公开透明，确保团队认可与长期稳定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CEE8"/>
                </a:solidFill>
              </a:rPr>
              <a:t>泰卦外贸团队系统 | TOSEA Deep Blue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