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694944"/>
            <a:ext cx="1554480" cy="310896"/>
          </a:xfrm>
          <a:prstGeom prst="roundRect">
            <a:avLst/>
          </a:prstGeom>
          <a:solidFill>
            <a:srgbClr val="0A3973"/>
          </a:solidFill>
          <a:ln>
            <a:solidFill>
              <a:srgbClr val="6FF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FFFE9"/>
                </a:solidFill>
              </a:defRPr>
            </a:pPr>
            <a:r>
              <a:t>TEAM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95527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泰卦外贸团队系统</a:t>
            </a:r>
          </a:p>
          <a:p>
            <a:pPr>
              <a:spcBef>
                <a:spcPts val="1000"/>
              </a:spcBef>
              <a:defRPr sz="1600">
                <a:solidFill>
                  <a:srgbClr val="A6CBF2"/>
                </a:solidFill>
              </a:defRPr>
            </a:pPr>
            <a:r>
              <a:t>外贸团队规范化管理与业务协同体系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154680"/>
            <a:ext cx="4297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F0FF"/>
                </a:solidFill>
              </a:defRPr>
            </a:pPr>
            <a:r>
              <a:t>聚焦组织协同</a:t>
            </a:r>
          </a:p>
          <a:p>
            <a:pPr>
              <a:spcAft>
                <a:spcPts val="800"/>
              </a:spcAft>
              <a:defRPr sz="1800">
                <a:solidFill>
                  <a:srgbClr val="E5F0FF"/>
                </a:solidFill>
              </a:defRPr>
            </a:pPr>
            <a:r>
              <a:t>统一制度标准</a:t>
            </a:r>
          </a:p>
          <a:p>
            <a:pPr>
              <a:spcAft>
                <a:spcPts val="800"/>
              </a:spcAft>
              <a:defRPr sz="1800">
                <a:solidFill>
                  <a:srgbClr val="E5F0FF"/>
                </a:solidFill>
              </a:defRPr>
            </a:pPr>
            <a:r>
              <a:t>强化结果导向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456432" cy="3931920"/>
          </a:xfrm>
          <a:prstGeom prst="roundRect">
            <a:avLst/>
          </a:prstGeom>
          <a:solidFill>
            <a:srgbClr val="0A1F46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10512"/>
            <a:ext cx="28346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E5F0FF"/>
                </a:solidFill>
              </a:defRPr>
            </a:pPr>
            <a:r>
              <a:t>主题｜六大板块管理体系</a:t>
            </a:r>
          </a:p>
          <a:p>
            <a:pPr>
              <a:spcAft>
                <a:spcPts val="1600"/>
              </a:spcAft>
              <a:defRPr sz="1400">
                <a:solidFill>
                  <a:srgbClr val="E5F0FF"/>
                </a:solidFill>
              </a:defRPr>
            </a:pPr>
            <a:r>
              <a:t>风格｜深蓝 TOSEA 商务科技风</a:t>
            </a:r>
          </a:p>
          <a:p>
            <a:pPr>
              <a:spcAft>
                <a:spcPts val="1600"/>
              </a:spcAft>
              <a:defRPr sz="1400">
                <a:solidFill>
                  <a:srgbClr val="E5F0FF"/>
                </a:solidFill>
              </a:defRPr>
            </a:pPr>
            <a:r>
              <a:t>输出｜9 页演示文稿，可直接下载使用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核心管理板块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围绕组织、制度、职责、流程与激励，构建外贸团队协同闭环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55064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764792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01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3055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明确组织结构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形成高效协作关系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1655064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87368" y="1600200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764792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02 团队制度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213055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统一执行标准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保障团队稳定运行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6" y="1655064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06056" y="1600200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7224" y="1764792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03 岗位职责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213055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责任清晰到岗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协同衔接顺畅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03903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49039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913631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04 工作流程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27939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规范日常动作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提升任务执行效率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7" y="3803903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87368" y="3749039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3913631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05 业务流程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427939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打通客户到成交链路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增强业务可控性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6" y="3803903"/>
            <a:ext cx="2907792" cy="16642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06056" y="3749039"/>
            <a:ext cx="2907792" cy="166420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3913631"/>
            <a:ext cx="2505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06 薪酬绩效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279392"/>
            <a:ext cx="2505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激励与贡献匹配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推动结果持续增长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团队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以清晰组织分工支撑快速响应与稳定交付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920240" cy="56692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团队经理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1965960" cy="56692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招商主管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743200"/>
            <a:ext cx="1965960" cy="56692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业务主管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148840"/>
            <a:ext cx="1508760" cy="530352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业务员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880360"/>
            <a:ext cx="1508760" cy="530352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跟单员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3611880"/>
            <a:ext cx="1508760" cy="530352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运营支持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856231" y="2167128"/>
            <a:ext cx="18288" cy="576072"/>
          </a:xfrm>
          <a:prstGeom prst="line">
            <a:avLst/>
          </a:prstGeom>
          <a:ln w="1778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51760" y="2167128"/>
            <a:ext cx="1581912" cy="576072"/>
          </a:xfrm>
          <a:prstGeom prst="line">
            <a:avLst/>
          </a:prstGeom>
          <a:ln w="1778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12080" y="2414016"/>
            <a:ext cx="411480" cy="612648"/>
          </a:xfrm>
          <a:prstGeom prst="line">
            <a:avLst/>
          </a:prstGeom>
          <a:ln w="1778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12080" y="3026664"/>
            <a:ext cx="411480" cy="118872"/>
          </a:xfrm>
          <a:prstGeom prst="line">
            <a:avLst/>
          </a:prstGeom>
          <a:ln w="1778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12080" y="3026664"/>
            <a:ext cx="411480" cy="850392"/>
          </a:xfrm>
          <a:prstGeom prst="line">
            <a:avLst/>
          </a:prstGeom>
          <a:ln w="1778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1682496"/>
            <a:ext cx="3749039" cy="3246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3800" y="1627632"/>
            <a:ext cx="3749039" cy="3246120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92224"/>
            <a:ext cx="334670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团队建设重点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157984"/>
            <a:ext cx="3346703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组织架构清晰，管理层与执行层职责分明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角色分工明确，避免职责交叉与执行空档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协作机制统一，保证信息传递高效顺畅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快速响应客户与订单需求，提升团队执行力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83480"/>
            <a:ext cx="10405872" cy="822960"/>
          </a:xfrm>
          <a:prstGeom prst="roundRect">
            <a:avLst/>
          </a:prstGeom>
          <a:solidFill>
            <a:srgbClr val="0B346F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E5F0FF"/>
                </a:solidFill>
              </a:defRPr>
            </a:pPr>
            <a:r>
              <a:t>核心目标：以“清晰结构 + 高效协作 + 快速响应”为团队运行基础，支撑业务规模化发展。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团队制度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通过统一标准减少内耗，保障协同效率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554480"/>
            <a:ext cx="103784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764792"/>
            <a:ext cx="292608" cy="292608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91639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考勤与请假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91639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明确出勤要求、请假审批与异常反馈机制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578608"/>
            <a:ext cx="103784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2788920"/>
            <a:ext cx="292608" cy="292608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71576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会议与汇报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15768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固定晨会/周会节奏，形成目标、进度、问题同步闭环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602736"/>
            <a:ext cx="103784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3813048"/>
            <a:ext cx="292608" cy="292608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3989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资料管理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39896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统一客户资料、报价文件、订单记录的归档标准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626864"/>
            <a:ext cx="103784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" y="4837176"/>
            <a:ext cx="292608" cy="292608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76402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沟通规范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64024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统一内部协作、跨岗位交接与问题升级路径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" y="5705855"/>
            <a:ext cx="10378440" cy="6583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5650992"/>
            <a:ext cx="10378440" cy="658368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815583"/>
            <a:ext cx="99761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制度建设导向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181344"/>
            <a:ext cx="997610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统一标准、强化执行、沉淀流程、保障协同。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岗位职责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责任到人、协同有序，确保每个岗位都能稳定产出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572768"/>
            <a:ext cx="1920240" cy="512064"/>
          </a:xfrm>
          <a:prstGeom prst="roundRect">
            <a:avLst/>
          </a:prstGeom>
          <a:solidFill>
            <a:srgbClr val="0F4588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岗位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572768"/>
            <a:ext cx="8138160" cy="512064"/>
          </a:xfrm>
          <a:prstGeom prst="roundRect">
            <a:avLst/>
          </a:prstGeom>
          <a:solidFill>
            <a:srgbClr val="0F4588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核心职责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1920240" cy="65836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业务员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194560"/>
            <a:ext cx="8138160" cy="658368"/>
          </a:xfrm>
          <a:prstGeom prst="roundRect">
            <a:avLst/>
          </a:prstGeom>
          <a:solidFill>
            <a:srgbClr val="09214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负责客户开发、询盘跟进、报价推进与成交转化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62656"/>
            <a:ext cx="1920240" cy="65836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跟单员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962656"/>
            <a:ext cx="8138160" cy="658368"/>
          </a:xfrm>
          <a:prstGeom prst="roundRect">
            <a:avLst/>
          </a:prstGeom>
          <a:solidFill>
            <a:srgbClr val="09214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负责订单执行、节点跟踪、资料对接与内部协调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730752"/>
            <a:ext cx="1920240" cy="65836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730752"/>
            <a:ext cx="8138160" cy="658368"/>
          </a:xfrm>
          <a:prstGeom prst="roundRect">
            <a:avLst/>
          </a:prstGeom>
          <a:solidFill>
            <a:srgbClr val="09214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负责平台维护、资料整理、样品信息与数据支持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498848"/>
            <a:ext cx="1920240" cy="65836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主管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498848"/>
            <a:ext cx="8138160" cy="658368"/>
          </a:xfrm>
          <a:prstGeom prst="roundRect">
            <a:avLst/>
          </a:prstGeom>
          <a:solidFill>
            <a:srgbClr val="09214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负责团队管理、目标拆解、过程督导与问题协调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266944"/>
            <a:ext cx="1920240" cy="658368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经理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5266944"/>
            <a:ext cx="8138160" cy="658368"/>
          </a:xfrm>
          <a:prstGeom prst="roundRect">
            <a:avLst/>
          </a:prstGeom>
          <a:solidFill>
            <a:srgbClr val="09214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E5F0FF"/>
                </a:solidFill>
              </a:defRPr>
            </a:pPr>
            <a:r>
              <a:t>负责策略制定、资源配置、结果复盘与机制优化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工作流程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把日常执行动作标准化，确保任务推进可视、可控、可复盘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接收任务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21408" y="2944368"/>
            <a:ext cx="256031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客户信息</a:t>
            </a:r>
          </a:p>
        </p:txBody>
      </p:sp>
      <p:sp>
        <p:nvSpPr>
          <p:cNvPr id="10" name="Oval 9"/>
          <p:cNvSpPr/>
          <p:nvPr/>
        </p:nvSpPr>
        <p:spPr>
          <a:xfrm>
            <a:off x="2377440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944368"/>
            <a:ext cx="256033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13632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跟进沟通</a:t>
            </a:r>
          </a:p>
        </p:txBody>
      </p:sp>
      <p:sp>
        <p:nvSpPr>
          <p:cNvPr id="13" name="Oval 12"/>
          <p:cNvSpPr/>
          <p:nvPr/>
        </p:nvSpPr>
        <p:spPr>
          <a:xfrm>
            <a:off x="4005072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76672" y="2944368"/>
            <a:ext cx="256032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41264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提交报价</a:t>
            </a:r>
          </a:p>
        </p:txBody>
      </p:sp>
      <p:sp>
        <p:nvSpPr>
          <p:cNvPr id="16" name="Oval 15"/>
          <p:cNvSpPr/>
          <p:nvPr/>
        </p:nvSpPr>
        <p:spPr>
          <a:xfrm>
            <a:off x="5632704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04304" y="2944368"/>
            <a:ext cx="256032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68896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内部协同</a:t>
            </a:r>
          </a:p>
        </p:txBody>
      </p:sp>
      <p:sp>
        <p:nvSpPr>
          <p:cNvPr id="19" name="Oval 18"/>
          <p:cNvSpPr/>
          <p:nvPr/>
        </p:nvSpPr>
        <p:spPr>
          <a:xfrm>
            <a:off x="7260336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31936" y="2944368"/>
            <a:ext cx="256032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96528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结果反馈</a:t>
            </a:r>
          </a:p>
        </p:txBody>
      </p:sp>
      <p:sp>
        <p:nvSpPr>
          <p:cNvPr id="22" name="Oval 21"/>
          <p:cNvSpPr/>
          <p:nvPr/>
        </p:nvSpPr>
        <p:spPr>
          <a:xfrm>
            <a:off x="8887968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59568" y="2944368"/>
            <a:ext cx="256032" cy="0"/>
          </a:xfrm>
          <a:prstGeom prst="line">
            <a:avLst/>
          </a:prstGeom>
          <a:ln w="2032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424160" y="2514600"/>
            <a:ext cx="1463040" cy="86868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归档总结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2276856"/>
            <a:ext cx="329184" cy="329184"/>
          </a:xfrm>
          <a:prstGeom prst="ellipse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D43"/>
                </a:solidFill>
              </a:defRPr>
            </a:pPr>
            <a: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123944"/>
            <a:ext cx="10012680" cy="12344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" y="4069080"/>
            <a:ext cx="10012680" cy="1234440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233672"/>
            <a:ext cx="96103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流程价值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599432"/>
            <a:ext cx="96103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统一执行步骤，减少重复沟通与流程遗漏；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提高报价、跟进、反馈与归档的衔接效率。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业务流程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贯穿客户开发到售后复盘的完整成交链路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8968" y="1371600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获取询盘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74597" y="1893852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客户开发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9448" y="3154680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需求确认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597" y="4415507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样品报价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58968" y="4937760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商务谈判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338" y="4415507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签单成交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8488" y="3154680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2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订单执行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338" y="1893852"/>
            <a:ext cx="1243584" cy="548640"/>
          </a:xfrm>
          <a:prstGeom prst="roundRect">
            <a:avLst/>
          </a:prstGeom>
          <a:solidFill>
            <a:srgbClr val="0C2859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售后复盘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761488"/>
            <a:ext cx="2468880" cy="1325880"/>
          </a:xfrm>
          <a:prstGeom prst="ellipse">
            <a:avLst/>
          </a:prstGeom>
          <a:solidFill>
            <a:srgbClr val="0A3973"/>
          </a:solidFill>
          <a:ln>
            <a:solidFill>
              <a:srgbClr val="6FF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业务增长闭环</a:t>
            </a:r>
          </a:p>
          <a:p>
            <a:pPr algn="ctr">
              <a:defRPr b="1" sz="1600">
                <a:solidFill>
                  <a:srgbClr val="FFFFFF"/>
                </a:solidFill>
              </a:defRPr>
            </a:pPr>
            <a:r>
              <a:t>标准化推进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868680" cy="347472"/>
          </a:xfrm>
          <a:prstGeom prst="round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D43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891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薪酬绩效</a:t>
            </a:r>
          </a:p>
          <a:p>
            <a:pPr>
              <a:spcBef>
                <a:spcPts val="300"/>
              </a:spcBef>
              <a:defRPr sz="1100">
                <a:solidFill>
                  <a:srgbClr val="A6CBF2"/>
                </a:solidFill>
              </a:defRPr>
            </a:pPr>
            <a:r>
              <a:t>以科学激励机制驱动目标达成与团队成长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" y="1700784"/>
            <a:ext cx="4846320" cy="42062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45920"/>
            <a:ext cx="4846320" cy="4206240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44439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薪酬结构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443983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基础薪资：保障岗位稳定产出与团队基本配置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业绩提成：与成交贡献直接挂钩，强化结果导向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月度考核：聚焦过程执行、客户跟进与协同质量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700784"/>
            <a:ext cx="4846320" cy="42062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645920"/>
            <a:ext cx="4846320" cy="4206240"/>
          </a:xfrm>
          <a:prstGeom prst="roundRect">
            <a:avLst/>
          </a:prstGeom>
          <a:solidFill>
            <a:srgbClr val="0C2859"/>
          </a:solidFill>
          <a:ln w="19050"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44439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绩效机制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4443983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季度奖励：鼓励阶段突破与优秀表现复制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年度激励：绑定长期目标，提升核心成员稳定性</a:t>
            </a:r>
          </a:p>
          <a:p>
            <a:pPr>
              <a:spcAft>
                <a:spcPts val="600"/>
              </a:spcAft>
              <a:defRPr sz="1150">
                <a:solidFill>
                  <a:srgbClr val="E5F0FF"/>
                </a:solidFill>
              </a:defRPr>
            </a:pPr>
            <a:r>
              <a:t>奖惩机制：明确标准，形成“有结果、有激励”的文化氛围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709160"/>
            <a:ext cx="1371600" cy="164592"/>
          </a:xfrm>
          <a:prstGeom prst="rect">
            <a:avLst/>
          </a:prstGeom>
          <a:solidFill>
            <a:srgbClr val="2E6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4690872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CBF2"/>
                </a:solidFill>
              </a:defRPr>
            </a:pPr>
            <a:r>
              <a:t>保底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5020056"/>
            <a:ext cx="2194560" cy="164592"/>
          </a:xfrm>
          <a:prstGeom prst="rect">
            <a:avLst/>
          </a:prstGeom>
          <a:solidFill>
            <a:srgbClr val="23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946904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CBF2"/>
                </a:solidFill>
              </a:defRPr>
            </a:pPr>
            <a:r>
              <a:t>绩效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5330952"/>
            <a:ext cx="3200400" cy="1645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520293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CBF2"/>
                </a:solidFill>
              </a:defRPr>
            </a:pPr>
            <a:r>
              <a:t>激励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987552"/>
            <a:ext cx="2011680" cy="2011680"/>
          </a:xfrm>
          <a:prstGeom prst="ellipse">
            <a:avLst/>
          </a:prstGeom>
          <a:noFill/>
          <a:ln w="25400">
            <a:solidFill>
              <a:srgbClr val="6FF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泰卦外贸团队系统</a:t>
            </a:r>
          </a:p>
          <a:p>
            <a:pPr>
              <a:spcBef>
                <a:spcPts val="1200"/>
              </a:spcBef>
              <a:defRPr sz="1600">
                <a:solidFill>
                  <a:srgbClr val="A6CBF2"/>
                </a:solidFill>
              </a:defRPr>
            </a:pPr>
            <a:r>
              <a:t>让管理更高效，让协作更顺畅，让业务更有结果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0332720" cy="914400"/>
          </a:xfrm>
          <a:prstGeom prst="roundRect">
            <a:avLst/>
          </a:prstGeom>
          <a:solidFill>
            <a:srgbClr val="0A295C"/>
          </a:solidFill>
          <a:ln>
            <a:solidFill>
              <a:srgbClr val="479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5F0FF"/>
                </a:solidFill>
              </a:defRPr>
            </a:pPr>
            <a:r>
              <a:t>通过组织建设、制度规范、流程标准化与绩效激励的系统协同，持续提升外贸团队专业化水平与市场竞争力。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5623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FFFE9"/>
                </a:solidFill>
              </a:defRPr>
            </a:pPr>
            <a:r>
              <a:t>感谢聆听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CBF2"/>
                </a:solidFill>
              </a:defRPr>
            </a:pPr>
            <a:r>
              <a:t>TOSEA 泰卦外贸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