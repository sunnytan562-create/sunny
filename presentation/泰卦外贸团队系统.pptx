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868680" y="694944"/>
            <a:ext cx="1554480" cy="310896"/>
          </a:xfrm>
          <a:prstGeom prst="roundRect">
            <a:avLst/>
          </a:prstGeom>
          <a:solidFill>
            <a:srgbClr val="0A3973"/>
          </a:solidFill>
          <a:ln>
            <a:solidFill>
              <a:srgbClr val="6FF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00" b="1">
                <a:solidFill>
                  <a:srgbClr val="6FFFE9"/>
                </a:solidFill>
              </a:defRPr>
            </a:pPr>
            <a:r>
              <a:t>TEAM SYSTEM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1554480"/>
            <a:ext cx="7955279" cy="1463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泰卦外贸团队系统</a:t>
            </a:r>
          </a:p>
          <a:p>
            <a:pPr>
              <a:spcBef>
                <a:spcPts val="1000"/>
              </a:spcBef>
              <a:defRPr sz="1600">
                <a:solidFill>
                  <a:srgbClr val="A6CBF2"/>
                </a:solidFill>
              </a:defRPr>
            </a:pPr>
            <a:r>
              <a:t>外贸团队规范化管理与业务协同体系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96112" y="3154680"/>
            <a:ext cx="4297680" cy="9601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800"/>
              </a:spcAft>
              <a:defRPr sz="1800">
                <a:solidFill>
                  <a:srgbClr val="E5F0FF"/>
                </a:solidFill>
              </a:defRPr>
            </a:pPr>
            <a:r>
              <a:t>聚焦组织协同</a:t>
            </a:r>
          </a:p>
          <a:p>
            <a:pPr>
              <a:spcAft>
                <a:spcPts val="800"/>
              </a:spcAft>
              <a:defRPr sz="1800">
                <a:solidFill>
                  <a:srgbClr val="E5F0FF"/>
                </a:solidFill>
              </a:defRPr>
            </a:pPr>
            <a:r>
              <a:t>统一制度标准</a:t>
            </a:r>
          </a:p>
          <a:p>
            <a:pPr>
              <a:spcAft>
                <a:spcPts val="800"/>
              </a:spcAft>
              <a:defRPr sz="1800">
                <a:solidFill>
                  <a:srgbClr val="E5F0FF"/>
                </a:solidFill>
              </a:defRPr>
            </a:pPr>
            <a:r>
              <a:t>强化结果导向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818120" y="1417320"/>
            <a:ext cx="3456432" cy="3931920"/>
          </a:xfrm>
          <a:prstGeom prst="roundRect">
            <a:avLst/>
          </a:prstGeom>
          <a:solidFill>
            <a:srgbClr val="0A1F46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138160" y="1810512"/>
            <a:ext cx="2834640" cy="31089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1600"/>
              </a:spcAft>
              <a:defRPr sz="1400">
                <a:solidFill>
                  <a:srgbClr val="E5F0FF"/>
                </a:solidFill>
              </a:defRPr>
            </a:pPr>
            <a:r>
              <a:t>主题｜六大板块管理体系</a:t>
            </a:r>
          </a:p>
          <a:p>
            <a:pPr>
              <a:spcAft>
                <a:spcPts val="1600"/>
              </a:spcAft>
              <a:defRPr sz="1400">
                <a:solidFill>
                  <a:srgbClr val="E5F0FF"/>
                </a:solidFill>
              </a:defRPr>
            </a:pPr>
            <a:r>
              <a:t>风格｜深蓝 TOSEA 商务科技风</a:t>
            </a:r>
          </a:p>
          <a:p>
            <a:pPr>
              <a:spcAft>
                <a:spcPts val="1600"/>
              </a:spcAft>
              <a:defRPr sz="1400">
                <a:solidFill>
                  <a:srgbClr val="E5F0FF"/>
                </a:solidFill>
              </a:defRPr>
            </a:pPr>
            <a:r>
              <a:t>输出｜9 页演示文稿，可直接下载使用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6" name="Rounded Rectangle 25"/>
          <p:cNvSpPr/>
          <p:nvPr/>
        </p:nvSpPr>
        <p:spPr>
          <a:xfrm>
            <a:off x="7351776" y="3803903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ounded Rectangle 21"/>
          <p:cNvSpPr/>
          <p:nvPr/>
        </p:nvSpPr>
        <p:spPr>
          <a:xfrm>
            <a:off x="4133087" y="3803903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914400" y="3803903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7351776" y="1655064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33087" y="1655064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914400" y="1655064"/>
            <a:ext cx="2907792" cy="166420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核心管理板块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围绕组织、制度、职责、流程与激励，构建外贸团队协同闭环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68680" y="1600200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69848" y="1764792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01 团队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69848" y="213055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明确组织结构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形成高效协作关系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087368" y="1600200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88536" y="1764792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02 团队制度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88536" y="213055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统一执行标准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保障团队稳定运行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06056" y="1600200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507224" y="1764792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03 岗位职责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07224" y="213055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责任清晰到岗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协同衔接顺畅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68680" y="3749039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69848" y="3913631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04 工作流程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69848" y="427939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规范日常动作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提升任务执行效率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087368" y="3749039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88536" y="3913631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05 业务流程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88536" y="427939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打通客户到成交链路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增强业务可控性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306056" y="3749039"/>
            <a:ext cx="2907792" cy="166420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507224" y="3913631"/>
            <a:ext cx="2505456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06 薪酬绩效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07224" y="4279392"/>
            <a:ext cx="25054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激励与贡献匹配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推动结果持续增长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8" name="Rounded Rectangle 17"/>
          <p:cNvSpPr/>
          <p:nvPr/>
        </p:nvSpPr>
        <p:spPr>
          <a:xfrm>
            <a:off x="7589520" y="1682496"/>
            <a:ext cx="3749039" cy="324612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团队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以清晰组织分工支撑快速响应与稳定交付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600200"/>
            <a:ext cx="1920240" cy="56692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团队经理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68680" y="2743200"/>
            <a:ext cx="1965960" cy="56692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招商主管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46120" y="2743200"/>
            <a:ext cx="1965960" cy="56692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业务主管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23560" y="2148840"/>
            <a:ext cx="1508760" cy="530352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业务员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23560" y="2880360"/>
            <a:ext cx="1508760" cy="530352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跟单员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23560" y="3611880"/>
            <a:ext cx="1508760" cy="530352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运营支持</a:t>
            </a:r>
          </a:p>
        </p:txBody>
      </p:sp>
      <p:cxnSp>
        <p:nvCxnSpPr>
          <p:cNvPr id="12" name="Connector 11"/>
          <p:cNvCxnSpPr/>
          <p:nvPr/>
        </p:nvCxnSpPr>
        <p:spPr>
          <a:xfrm flipH="1">
            <a:off x="1856231" y="2167128"/>
            <a:ext cx="18288" cy="576072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2651760" y="2167128"/>
            <a:ext cx="1581912" cy="576072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 flipV="1">
            <a:off x="5212080" y="2414016"/>
            <a:ext cx="411480" cy="612648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5212080" y="3026664"/>
            <a:ext cx="411480" cy="118872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212080" y="3026664"/>
            <a:ext cx="411480" cy="850392"/>
          </a:xfrm>
          <a:prstGeom prst="line">
            <a:avLst/>
          </a:prstGeom>
          <a:ln w="1778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7543800" y="1627632"/>
            <a:ext cx="3749039" cy="3246120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744968" y="1792224"/>
            <a:ext cx="3346703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团队建设重点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44968" y="2157984"/>
            <a:ext cx="3346703" cy="258775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组织架构清晰，管理层与执行层职责分明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角色分工明确，避免职责交叉与执行空档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协作机制统一，保证信息传递高效顺畅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快速响应客户与订单需求，提升团队执行力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68680" y="4983480"/>
            <a:ext cx="10405872" cy="822960"/>
          </a:xfrm>
          <a:prstGeom prst="roundRect">
            <a:avLst/>
          </a:prstGeom>
          <a:solidFill>
            <a:srgbClr val="0B346F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500" b="1">
                <a:solidFill>
                  <a:srgbClr val="E5F0FF"/>
                </a:solidFill>
              </a:defRPr>
            </a:pPr>
            <a:r>
              <a:t>核心目标：以“清晰结构 + 高效协作 + 快速响应”为团队运行基础，支撑业务规模化发展。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3" name="Rounded Rectangle 22"/>
          <p:cNvSpPr/>
          <p:nvPr/>
        </p:nvSpPr>
        <p:spPr>
          <a:xfrm>
            <a:off x="941832" y="5705855"/>
            <a:ext cx="10378440" cy="658368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团队制度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通过统一标准减少内耗，保障协同效率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554480"/>
            <a:ext cx="103784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115568" y="1764792"/>
            <a:ext cx="292608" cy="292608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554480" y="1691639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考勤与请假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0" y="1691639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明确出勤要求、请假审批与异常反馈机制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96112" y="2578608"/>
            <a:ext cx="103784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115568" y="2788920"/>
            <a:ext cx="292608" cy="292608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554480" y="2715768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会议与汇报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0" y="2715768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固定晨会/周会节奏，形成目标、进度、问题同步闭环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6112" y="3602736"/>
            <a:ext cx="103784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1115568" y="3813048"/>
            <a:ext cx="292608" cy="292608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554480" y="3739896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资料管理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3739896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统一客户资料、报价文件、订单记录的归档标准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96112" y="4626864"/>
            <a:ext cx="103784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1115568" y="4837176"/>
            <a:ext cx="292608" cy="292608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554480" y="4764024"/>
            <a:ext cx="2011680" cy="2560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沟通规范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0" y="4764024"/>
            <a:ext cx="7040880" cy="411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统一内部协作、跨岗位交接与问题升级路径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96112" y="5650992"/>
            <a:ext cx="10378440" cy="658368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97280" y="5815583"/>
            <a:ext cx="997610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制度建设导向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97280" y="6181344"/>
            <a:ext cx="9976104" cy="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统一标准、强化执行、沉淀流程、保障协同。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岗位职责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责任到人、协同有序，确保每个岗位都能稳定产出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60120" y="1572768"/>
            <a:ext cx="1920240" cy="512064"/>
          </a:xfrm>
          <a:prstGeom prst="roundRect">
            <a:avLst/>
          </a:prstGeom>
          <a:solidFill>
            <a:srgbClr val="0F4588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岗位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971800" y="1572768"/>
            <a:ext cx="8138160" cy="512064"/>
          </a:xfrm>
          <a:prstGeom prst="roundRect">
            <a:avLst/>
          </a:prstGeom>
          <a:solidFill>
            <a:srgbClr val="0F4588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400">
                <a:solidFill>
                  <a:srgbClr val="FFFFFF"/>
                </a:solidFill>
              </a:defRPr>
            </a:pPr>
            <a:r>
              <a:t>核心职责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60120" y="2194560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业务员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71800" y="2194560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负责客户开发、询盘跟进、报价推进与成交转化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960120" y="2962656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跟单员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971800" y="2962656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负责订单执行、节点跟踪、资料对接与内部协调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960120" y="3730752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运营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971800" y="3730752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负责平台维护、资料整理、样品信息与数据支持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60120" y="4498848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主管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2971800" y="4498848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负责团队管理、目标拆解、过程督导与问题协调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60120" y="5266944"/>
            <a:ext cx="1920240" cy="658368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经理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971800" y="5266944"/>
            <a:ext cx="8138160" cy="658368"/>
          </a:xfrm>
          <a:prstGeom prst="roundRect">
            <a:avLst/>
          </a:prstGeom>
          <a:solidFill>
            <a:srgbClr val="09214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>
              <a:defRPr sz="1300">
                <a:solidFill>
                  <a:srgbClr val="E5F0FF"/>
                </a:solidFill>
              </a:defRPr>
            </a:pPr>
            <a:r>
              <a:t>负责策略制定、资源配置、结果复盘与机制优化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7" name="Rounded Rectangle 26"/>
          <p:cNvSpPr/>
          <p:nvPr/>
        </p:nvSpPr>
        <p:spPr>
          <a:xfrm>
            <a:off x="1051560" y="4123944"/>
            <a:ext cx="10012680" cy="12344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工作流程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把日常执行动作标准化，确保任务推进可视、可控、可复盘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接收任务</a:t>
            </a:r>
          </a:p>
        </p:txBody>
      </p:sp>
      <p:sp>
        <p:nvSpPr>
          <p:cNvPr id="7" name="Oval 6"/>
          <p:cNvSpPr/>
          <p:nvPr/>
        </p:nvSpPr>
        <p:spPr>
          <a:xfrm>
            <a:off x="749808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1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2121408" y="2944368"/>
            <a:ext cx="256031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286000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客户信息</a:t>
            </a:r>
          </a:p>
        </p:txBody>
      </p:sp>
      <p:sp>
        <p:nvSpPr>
          <p:cNvPr id="10" name="Oval 9"/>
          <p:cNvSpPr/>
          <p:nvPr/>
        </p:nvSpPr>
        <p:spPr>
          <a:xfrm>
            <a:off x="2377440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2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749039" y="2944368"/>
            <a:ext cx="256033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913632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跟进沟通</a:t>
            </a:r>
          </a:p>
        </p:txBody>
      </p:sp>
      <p:sp>
        <p:nvSpPr>
          <p:cNvPr id="13" name="Oval 12"/>
          <p:cNvSpPr/>
          <p:nvPr/>
        </p:nvSpPr>
        <p:spPr>
          <a:xfrm>
            <a:off x="4005072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3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5376672" y="2944368"/>
            <a:ext cx="256032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Rounded Rectangle 14"/>
          <p:cNvSpPr/>
          <p:nvPr/>
        </p:nvSpPr>
        <p:spPr>
          <a:xfrm>
            <a:off x="5541264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提交报价</a:t>
            </a:r>
          </a:p>
        </p:txBody>
      </p:sp>
      <p:sp>
        <p:nvSpPr>
          <p:cNvPr id="16" name="Oval 15"/>
          <p:cNvSpPr/>
          <p:nvPr/>
        </p:nvSpPr>
        <p:spPr>
          <a:xfrm>
            <a:off x="5632704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4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004304" y="2944368"/>
            <a:ext cx="256032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7168896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内部协同</a:t>
            </a:r>
          </a:p>
        </p:txBody>
      </p:sp>
      <p:sp>
        <p:nvSpPr>
          <p:cNvPr id="19" name="Oval 18"/>
          <p:cNvSpPr/>
          <p:nvPr/>
        </p:nvSpPr>
        <p:spPr>
          <a:xfrm>
            <a:off x="7260336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5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8631936" y="2944368"/>
            <a:ext cx="256032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8796528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结果反馈</a:t>
            </a:r>
          </a:p>
        </p:txBody>
      </p:sp>
      <p:sp>
        <p:nvSpPr>
          <p:cNvPr id="22" name="Oval 21"/>
          <p:cNvSpPr/>
          <p:nvPr/>
        </p:nvSpPr>
        <p:spPr>
          <a:xfrm>
            <a:off x="8887968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6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10259568" y="2944368"/>
            <a:ext cx="256032" cy="0"/>
          </a:xfrm>
          <a:prstGeom prst="line">
            <a:avLst/>
          </a:prstGeom>
          <a:ln w="20320">
            <a:solidFill>
              <a:srgbClr val="6FFFE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10424160" y="2514600"/>
            <a:ext cx="1463040" cy="86868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300" b="1">
                <a:solidFill>
                  <a:srgbClr val="FFFFFF"/>
                </a:solidFill>
              </a:defRPr>
            </a:pPr>
            <a:r>
              <a:t>归档总结</a:t>
            </a:r>
          </a:p>
        </p:txBody>
      </p:sp>
      <p:sp>
        <p:nvSpPr>
          <p:cNvPr id="25" name="Oval 24"/>
          <p:cNvSpPr/>
          <p:nvPr/>
        </p:nvSpPr>
        <p:spPr>
          <a:xfrm>
            <a:off x="10515600" y="2276856"/>
            <a:ext cx="329184" cy="329184"/>
          </a:xfrm>
          <a:prstGeom prst="ellipse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100" b="1">
                <a:solidFill>
                  <a:srgbClr val="071D43"/>
                </a:solidFill>
              </a:defRPr>
            </a:pPr>
            <a:r>
              <a:t>7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1005840" y="4069080"/>
            <a:ext cx="10012680" cy="1234440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07008" y="4233672"/>
            <a:ext cx="9610344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600" b="1">
                <a:solidFill>
                  <a:srgbClr val="FFFFFF"/>
                </a:solidFill>
              </a:defRPr>
            </a:pPr>
            <a:r>
              <a:t>流程价值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07008" y="4599432"/>
            <a:ext cx="9610344" cy="5760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统一执行步骤，减少重复沟通与流程遗漏；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提高报价、跟进、反馈与归档的衔接效率。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业务流程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贯穿客户开发到售后复盘的完整成交链路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58968" y="1371600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获取询盘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174597" y="1893852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客户开发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9299448" y="3154680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需求确认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174597" y="4415507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样品报价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58968" y="4937760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商务谈判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743338" y="4415507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签单成交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618488" y="3154680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20C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订单执行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338" y="1893852"/>
            <a:ext cx="1243584" cy="548640"/>
          </a:xfrm>
          <a:prstGeom prst="roundRect">
            <a:avLst/>
          </a:prstGeom>
          <a:solidFill>
            <a:srgbClr val="0C2859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250" b="1">
                <a:solidFill>
                  <a:srgbClr val="FFFFFF"/>
                </a:solidFill>
              </a:defRPr>
            </a:pPr>
            <a:r>
              <a:t>售后复盘</a:t>
            </a:r>
          </a:p>
        </p:txBody>
      </p:sp>
      <p:sp>
        <p:nvSpPr>
          <p:cNvPr id="14" name="Oval 13"/>
          <p:cNvSpPr/>
          <p:nvPr/>
        </p:nvSpPr>
        <p:spPr>
          <a:xfrm>
            <a:off x="4846320" y="2761488"/>
            <a:ext cx="2468880" cy="1325880"/>
          </a:xfrm>
          <a:prstGeom prst="ellipse">
            <a:avLst/>
          </a:prstGeom>
          <a:solidFill>
            <a:srgbClr val="0A3973"/>
          </a:solidFill>
          <a:ln>
            <a:solidFill>
              <a:srgbClr val="6FF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b="1" sz="1600">
                <a:solidFill>
                  <a:srgbClr val="FFFFFF"/>
                </a:solidFill>
              </a:defRPr>
            </a:pPr>
            <a:r>
              <a:t>业务增长闭环</a:t>
            </a:r>
          </a:p>
          <a:p>
            <a:pPr algn="ctr">
              <a:defRPr b="1" sz="1600">
                <a:solidFill>
                  <a:srgbClr val="FFFFFF"/>
                </a:solidFill>
              </a:defRPr>
            </a:pPr>
            <a:r>
              <a:t>标准化推进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11" name="Rounded Rectangle 10"/>
          <p:cNvSpPr/>
          <p:nvPr/>
        </p:nvSpPr>
        <p:spPr>
          <a:xfrm>
            <a:off x="6473952" y="1700784"/>
            <a:ext cx="4846320" cy="42062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941832" y="1700784"/>
            <a:ext cx="4846320" cy="4206240"/>
          </a:xfrm>
          <a:prstGeom prst="roundRect">
            <a:avLst/>
          </a:prstGeom>
          <a:solidFill>
            <a:srgbClr val="000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658368" y="594360"/>
            <a:ext cx="868680" cy="347472"/>
          </a:xfrm>
          <a:prstGeom prst="round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071D43"/>
                </a:solidFill>
              </a:defRPr>
            </a:pPr>
            <a: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37360" y="438912"/>
            <a:ext cx="8046720" cy="56692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2400" b="1">
                <a:solidFill>
                  <a:srgbClr val="FFFFFF"/>
                </a:solidFill>
              </a:defRPr>
            </a:pPr>
            <a:r>
              <a:t>薪酬绩效</a:t>
            </a:r>
          </a:p>
          <a:p>
            <a:pPr>
              <a:spcBef>
                <a:spcPts val="300"/>
              </a:spcBef>
              <a:defRPr sz="1100">
                <a:solidFill>
                  <a:srgbClr val="A6CBF2"/>
                </a:solidFill>
              </a:defRPr>
            </a:pPr>
            <a:r>
              <a:t>以科学激励机制驱动目标达成与团队成长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896112" y="1645920"/>
            <a:ext cx="4846320" cy="4206240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810512"/>
            <a:ext cx="4443983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薪酬结构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176272"/>
            <a:ext cx="4443983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基础薪资：保障岗位稳定产出与团队基本配置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业绩提成：与成交贡献直接挂钩，强化结果导向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月度考核：聚焦过程执行、客户跟进与协同质量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28232" y="1645920"/>
            <a:ext cx="4846320" cy="4206240"/>
          </a:xfrm>
          <a:prstGeom prst="roundRect">
            <a:avLst/>
          </a:prstGeom>
          <a:solidFill>
            <a:srgbClr val="0C2859"/>
          </a:solidFill>
          <a:ln w="19050"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629400" y="1810512"/>
            <a:ext cx="4443983" cy="29260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700" b="1">
                <a:solidFill>
                  <a:srgbClr val="FFFFFF"/>
                </a:solidFill>
              </a:defRPr>
            </a:pPr>
            <a:r>
              <a:t>绩效机制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629400" y="2176272"/>
            <a:ext cx="4443983" cy="3547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季度奖励：鼓励阶段突破与优秀表现复制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年度激励：绑定长期目标，提升核心成员稳定性</a:t>
            </a:r>
          </a:p>
          <a:p>
            <a:pPr>
              <a:spcAft>
                <a:spcPts val="600"/>
              </a:spcAft>
              <a:defRPr sz="1150">
                <a:solidFill>
                  <a:srgbClr val="E5F0FF"/>
                </a:solidFill>
              </a:defRPr>
            </a:pPr>
            <a:r>
              <a:t>奖惩机制：明确标准，形成“有结果、有激励”的文化氛围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188720" y="4709160"/>
            <a:ext cx="1371600" cy="164592"/>
          </a:xfrm>
          <a:prstGeom prst="rect">
            <a:avLst/>
          </a:prstGeom>
          <a:solidFill>
            <a:srgbClr val="2E6EC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697479" y="4690872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CBF2"/>
                </a:solidFill>
              </a:defRPr>
            </a:pPr>
            <a:r>
              <a:t>保底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188720" y="5020056"/>
            <a:ext cx="2194560" cy="164592"/>
          </a:xfrm>
          <a:prstGeom prst="rect">
            <a:avLst/>
          </a:prstGeom>
          <a:solidFill>
            <a:srgbClr val="23A1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4946904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CBF2"/>
                </a:solidFill>
              </a:defRPr>
            </a:pPr>
            <a:r>
              <a:t>绩效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188720" y="5330952"/>
            <a:ext cx="3200400" cy="164592"/>
          </a:xfrm>
          <a:prstGeom prst="rect">
            <a:avLst/>
          </a:prstGeom>
          <a:solidFill>
            <a:srgbClr val="6FFFE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26280" y="5202936"/>
            <a:ext cx="914400" cy="219456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A6CBF2"/>
                </a:solidFill>
              </a:defRPr>
            </a:pPr>
            <a:r>
              <a:t>激励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pic>
        <p:nvPicPr>
          <p:cNvPr id="2" name="Picture 1" descr="tosea_deep_blue_b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12191695" cy="128016"/>
          </a:xfrm>
          <a:prstGeom prst="rect">
            <a:avLst/>
          </a:prstGeom>
          <a:solidFill>
            <a:srgbClr val="20C3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503920" y="987552"/>
            <a:ext cx="2011680" cy="2011680"/>
          </a:xfrm>
          <a:prstGeom prst="ellipse">
            <a:avLst/>
          </a:prstGeom>
          <a:noFill/>
          <a:ln w="25400">
            <a:solidFill>
              <a:srgbClr val="6FFFE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1920240"/>
            <a:ext cx="7863840" cy="12801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FFFFFF"/>
                </a:solidFill>
              </a:defRPr>
            </a:pPr>
            <a:r>
              <a:t>泰卦外贸团队系统</a:t>
            </a:r>
          </a:p>
          <a:p>
            <a:pPr>
              <a:spcBef>
                <a:spcPts val="1200"/>
              </a:spcBef>
              <a:defRPr sz="1600">
                <a:solidFill>
                  <a:srgbClr val="A6CBF2"/>
                </a:solidFill>
              </a:defRPr>
            </a:pPr>
            <a:r>
              <a:t>让管理更高效，让协作更顺畅，让业务更有结果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4023360"/>
            <a:ext cx="10332720" cy="914400"/>
          </a:xfrm>
          <a:prstGeom prst="roundRect">
            <a:avLst/>
          </a:prstGeom>
          <a:solidFill>
            <a:srgbClr val="0A295C"/>
          </a:solidFill>
          <a:ln>
            <a:solidFill>
              <a:srgbClr val="4791E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500" b="1">
                <a:solidFill>
                  <a:srgbClr val="E5F0FF"/>
                </a:solidFill>
              </a:defRPr>
            </a:pPr>
            <a:r>
              <a:t>通过组织建设、制度规范、流程标准化与绩效激励的系统协同，持续提升外贸团队专业化水平与市场竞争力。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617720" y="5623560"/>
            <a:ext cx="29260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1800" b="1">
                <a:solidFill>
                  <a:srgbClr val="6FFFE9"/>
                </a:solidFill>
              </a:defRPr>
            </a:pPr>
            <a:r>
              <a:t>感谢聆听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784080" y="6400800"/>
            <a:ext cx="1828800" cy="2286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>
                <a:solidFill>
                  <a:srgbClr val="A6CBF2"/>
                </a:solidFill>
              </a:defRPr>
            </a:pPr>
            <a:r>
              <a:t>TOSEA 泰卦外贸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